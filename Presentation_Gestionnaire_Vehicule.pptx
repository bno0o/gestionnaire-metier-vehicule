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Gestionnaire Métier Véhicule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DC8ED"/>
                </a:solidFill>
              </a:rPr>
              <a:t>Application de gestion de flotte automobile en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66160"/>
            <a:ext cx="48737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Programmation Orientée Objet Avancée  •  Licence Informatique  •  2025-2026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1371600" cy="54864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545836" cy="105156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7C1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47685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Présentation du projet &amp; objectifs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5916" y="1554480"/>
            <a:ext cx="5545836" cy="105156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3076" y="16642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7C1E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5996" y="1783080"/>
            <a:ext cx="47685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Architecture &amp; diagramme de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5545836" cy="105156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44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7C1E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7685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Les classes principales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2834640"/>
            <a:ext cx="5545836" cy="105156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2944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7C1E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5996" y="3063240"/>
            <a:ext cx="47685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Gestion des données (CSV, Collections)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5545836" cy="105156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245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7C1E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43400"/>
            <a:ext cx="47685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Interface graphique Swing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5916" y="4114800"/>
            <a:ext cx="5545836" cy="105156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3076" y="42245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7C1E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5996" y="4343400"/>
            <a:ext cx="47685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Fonctionnalités &amp; démonstration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– Présentation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5C9E"/>
                </a:solidFill>
              </a:rPr>
              <a:t>Contexte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74552" cy="36576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Projet de fin de semestre en Programmation Orientée Objet Avancée.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67128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Simulation d'un système réel de gestion de flotte pour une entreprise.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51176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Développé en Java avec interface graphique Swing.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5C9E"/>
                </a:solidFill>
              </a:rPr>
              <a:t>Objectifs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1274552" cy="36576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A375E"/>
                </a:solidFill>
              </a:rPr>
              <a:t>Gérer </a:t>
            </a:r>
            <a:r>
              <a:rPr sz="1400">
                <a:solidFill>
                  <a:srgbClr val="2D2D2D"/>
                </a:solidFill>
              </a:rPr>
              <a:t>une flotte de véhicules (ajout, suppression, modification)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58768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130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A375E"/>
                </a:solidFill>
              </a:rPr>
              <a:t>Assigner </a:t>
            </a:r>
            <a:r>
              <a:rPr sz="1400">
                <a:solidFill>
                  <a:srgbClr val="2D2D2D"/>
                </a:solidFill>
              </a:rPr>
              <a:t>des chauffeurs à des véhicules de façon sécurisée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42816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A375E"/>
                </a:solidFill>
              </a:rPr>
              <a:t>Planifier </a:t>
            </a:r>
            <a:r>
              <a:rPr sz="1400">
                <a:solidFill>
                  <a:srgbClr val="2D2D2D"/>
                </a:solidFill>
              </a:rPr>
              <a:t>des missions courtes et longues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26864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811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A375E"/>
                </a:solidFill>
              </a:rPr>
              <a:t>Persister </a:t>
            </a:r>
            <a:r>
              <a:rPr sz="1400">
                <a:solidFill>
                  <a:srgbClr val="2D2D2D"/>
                </a:solidFill>
              </a:rPr>
              <a:t>les données dans un fichier 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10912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A375E"/>
                </a:solidFill>
              </a:rPr>
              <a:t>Visualiser </a:t>
            </a:r>
            <a:r>
              <a:rPr sz="1400">
                <a:solidFill>
                  <a:srgbClr val="2D2D2D"/>
                </a:solidFill>
              </a:rPr>
              <a:t>les statistiques de la flotte en temps réel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– Architecture &amp; diagramme de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74552" cy="9144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99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VUE 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64792"/>
            <a:ext cx="10817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FenetrePrincipale.java
Interface graphique Swing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50008"/>
            <a:ext cx="11274552" cy="914400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CONTRÔLEUR  (controller)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0817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GestionnaireFlotte.java
Logique métier &amp; persistance 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74136"/>
            <a:ext cx="11274552" cy="12344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472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MODÈLE  (model)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13048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Vehicule · Mission · Chauffeur
VehiculeLourd · VehiculeSpecial · VehiculeLeger
MissionCourte · MissionLongue · Registre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Interfaces 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5577840"/>
            <a:ext cx="182880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6144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05C9E"/>
                </a:solidFill>
              </a:rPr>
              <a:t>«interface»  Assignable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5577840"/>
            <a:ext cx="182880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56144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05C9E"/>
                </a:solidFill>
              </a:rPr>
              <a:t>«interface»  Maintenable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5577840"/>
            <a:ext cx="182880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56144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05C9E"/>
                </a:solidFill>
              </a:rPr>
              <a:t>«interface»  Trackable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– Classe abstraite Vehicule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657600" cy="237744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Attributs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19072"/>
            <a:ext cx="34381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• immatriculation  (String)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type  (String)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etat  (String)  → 'disponible' par défaut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kilometrage  (int)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80160"/>
            <a:ext cx="3657600" cy="237744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316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Méthodes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719072"/>
            <a:ext cx="34381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• getDescription()  — abstraite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getImmatriculation() / getType()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getEtat() / setEtat()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getKilometrage() / setKilometrage()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toString()  — affichage texte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657600" cy="237744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6576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316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Sous-classes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719072"/>
            <a:ext cx="34381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▶  VehiculeLeger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 → véhicule léger classique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▶  VehiculeLourd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 → camion, capacité en tonnes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▶  VehiculeSpecial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 → urgence (ambulance, pompiers)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C1E"/>
                </a:solidFill>
              </a:rPr>
              <a:t>Pourquoi abstraite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519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On ne crée jamais un « Vehicule » générique directement. La classe abstraite impose à chaque sous-classe d'implémenter getDescription() — garantissant qu'aucun véhicule ne sera sans description.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– VehiculeLourd &amp; VehiculeSpecial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500116" cy="347472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00116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VehiculeLourd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19072"/>
            <a:ext cx="52806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Hérite de : Vehicule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Implémente : Assignable, Maintenable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Attribut supplémentaire :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capaciteTonnage (double)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Comportements :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assigner(chauffeur) → état 'assigné'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desassigner()       → état 'disponible'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planifierMaintenance(date)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signalerIncident(desc)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necessiteMaintenance() si km &gt; 80 000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048756" y="1280160"/>
            <a:ext cx="5500116" cy="347472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280160"/>
            <a:ext cx="5500116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8484" y="1316736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VehiculeSpecial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8484" y="1719072"/>
            <a:ext cx="52806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Hérite de : Vehicule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Implémente : Assignable, Maintenable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Attribut supplémentaire :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typeUrgence (String)  ex: 'Ambulance'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Comportements :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assigner / desassigner  (identique)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signalerIncident → message 'URGENT'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necessiteMaintenance() si km &gt; 50 000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  (seuil plus bas : véhicules critiques)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• Trié en priorité dans fileUrgences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37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7C1E"/>
                </a:solidFill>
              </a:rPr>
              <a:t>Différence clé : le seuil de maintenance est plus bas pour les véhicules spéciaux (50 000 km vs 80 000 km) car ils sont critiques.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– Classe abstraite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657600" cy="228600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Attributs communs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19072"/>
            <a:ext cx="34381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• id          (String)  → identifiant unique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description (String)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date        (String)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statut      (String)  → 'en attente' défaut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80160"/>
            <a:ext cx="3657600" cy="228600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316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Méthode abstraite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719072"/>
            <a:ext cx="34381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• getType()  — obligatoire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Chaque sous-classe retourne :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MissionCourte → 'Mission courte'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MissionLongue → 'Mission longue'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657600" cy="228600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6576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316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Statuts possibles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719072"/>
            <a:ext cx="34381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• 'en attente'  → créée, pas démarrée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'en cours'    → en exécution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'terminée'    → mission accomplie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Modifiable via setStatut()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5500116" cy="192024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5500116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785615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MissionCourte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187951"/>
            <a:ext cx="52806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Attribut : duree (int) — en heures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getType() → 'Mission courte'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Exemple : livraison en 2h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8756" y="3749039"/>
            <a:ext cx="5500116" cy="192024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8756" y="3749039"/>
            <a:ext cx="5500116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8484" y="3785615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MissionLongue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8484" y="4187951"/>
            <a:ext cx="52806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Attribut : itineraire (String)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getType() → 'Mission longue'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Exemple : tournée nationale, A→B→C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– GestionnaireFlotte  (le cerveau)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636264" cy="484632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36264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345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Collections utilisées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19072"/>
            <a:ext cx="34168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Registre&lt;Vehicule&gt;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liste générique des véhicules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ArrayList&lt;Chauffeur&gt;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liste des chauffeurs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ArrayList&lt;Mission&gt;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liste des missions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PriorityQueue&lt;VehiculeSpecial&gt;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urgences triées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TreeMap&lt;String, Mission&gt;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agenda trié par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93464" y="1280160"/>
            <a:ext cx="3636264" cy="484632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3464" y="1280160"/>
            <a:ext cx="3636264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3192" y="1316736"/>
            <a:ext cx="345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Fonctionnalités principales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3192" y="1719072"/>
            <a:ext cx="34168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• ajouterVehicule / supprimer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ajouterChauffeur / supprimer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ajouterMission / supprimer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filtrerVehicules(etat, type, kmMax)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trierVehicules(critere, croissant)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assignerVehicule(v, chauffeur)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lance exception si indisponible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sauvegarderCSV / chargerCSV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21168" y="1280160"/>
            <a:ext cx="3636264" cy="484632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21168" y="1280160"/>
            <a:ext cx="3636264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0896" y="1316736"/>
            <a:ext cx="345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Statistiques en temps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0896" y="1719072"/>
            <a:ext cx="34168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• getNbVehiculesDisponibles()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getKilometragesMoyen()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getNbMissionsEnCours()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• getVehiculesParEtat()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Map&lt;String, Long&gt;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  → ex: {disponible=3, assigné=2}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Affichées dans l'interface graphique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– Persistance des données (CSV)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05C9E"/>
                </a:solidFill>
              </a:rPr>
              <a:t>Structure du fichier flotte.csv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685800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CFE"/>
                </a:solidFill>
              </a:rPr>
              <a:t>[vehicules]
immatriculation, type, etat, kilometrage, extra
AB-123-CD, Lourd, disponible, 45000, 12.5
EF-456-GH, Spécial, assigné, 31000, Ambulance
[chauffeurs]
nom, prenom, permis, disponible
Dupont, Jean, P-2024-001, true
[missions]
id, type, description, date, statut, extra
M001, Mission courte, Livraison Paris, 2026-05-13, en cours, 2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737360"/>
            <a:ext cx="4572000" cy="155448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737360"/>
            <a:ext cx="45720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77393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Sauvegarde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176272"/>
            <a:ext cx="43525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PrintWriter écrit chaque section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avec un en-tête [vehicules], etc.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Données séparées par des virgules.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429000"/>
            <a:ext cx="4572000" cy="173736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3429000"/>
            <a:ext cx="4572000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346557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Chargement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3867912"/>
            <a:ext cx="4352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BufferedReader lit ligne par ligne.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Détecte la section courante [...].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Recrée les objets Java correspondants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(VehiculeLourd, MissionCourte…).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– Interface graphique Swing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727198" cy="320040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27198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25443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Onglet Véhicules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19072"/>
            <a:ext cx="250774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Tableau des véhicules (JTable)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Filtres : état, type, km max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Boutons : Ajouter / Supprimer / Trier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6966" y="1280160"/>
            <a:ext cx="2727198" cy="320040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6966" y="1280160"/>
            <a:ext cx="2727198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6694" y="1316736"/>
            <a:ext cx="25443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Onglet Chauffeurs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6694" y="1719072"/>
            <a:ext cx="250774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Liste des chauffeurs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Indicateur de disponibilité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Ajout / suppression rapide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8172" y="1280160"/>
            <a:ext cx="2727198" cy="320040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8172" y="1280160"/>
            <a:ext cx="2727198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7900" y="1316736"/>
            <a:ext cx="25443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Onglet 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7900" y="1719072"/>
            <a:ext cx="250774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Liste des missions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Filtrage par statut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Types : courte / longue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9378" y="1280160"/>
            <a:ext cx="2727198" cy="3200400"/>
          </a:xfrm>
          <a:prstGeom prst="rect">
            <a:avLst/>
          </a:prstGeom>
          <a:solidFill>
            <a:srgbClr val="D6E4F7"/>
          </a:solidFill>
          <a:ln w="1905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39378" y="1280160"/>
            <a:ext cx="2727198" cy="384048"/>
          </a:xfrm>
          <a:prstGeom prst="rect">
            <a:avLst/>
          </a:prstGeom>
          <a:solidFill>
            <a:srgbClr val="2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9106" y="1316736"/>
            <a:ext cx="25443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Onglet 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9106" y="1719072"/>
            <a:ext cx="250774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D2D2D"/>
                </a:solidFill>
              </a:rPr>
              <a:t>Véhicules disponibles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Kilométrage moyen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Missions en cours</a:t>
            </a:r>
          </a:p>
          <a:p>
            <a:pPr algn="l"/>
            <a:r>
              <a:rPr sz="1200">
                <a:solidFill>
                  <a:srgbClr val="2D2D2D"/>
                </a:solidFill>
              </a:rPr>
              <a:t>Répartition par état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Barre d'outils 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2148840" cy="502920"/>
          </a:xfrm>
          <a:prstGeom prst="rect">
            <a:avLst/>
          </a:prstGeom>
          <a:solidFill>
            <a:srgbClr val="205C9E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93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Charger 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5029200"/>
            <a:ext cx="2148840" cy="502920"/>
          </a:xfrm>
          <a:prstGeom prst="rect">
            <a:avLst/>
          </a:prstGeom>
          <a:solidFill>
            <a:srgbClr val="205C9E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093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Sauvegarder 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5029200"/>
            <a:ext cx="2148840" cy="502920"/>
          </a:xfrm>
          <a:prstGeom prst="rect">
            <a:avLst/>
          </a:prstGeom>
          <a:solidFill>
            <a:srgbClr val="205C9E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5093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Assigner Chauffeur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5029200"/>
            <a:ext cx="2148840" cy="502920"/>
          </a:xfrm>
          <a:prstGeom prst="rect">
            <a:avLst/>
          </a:prstGeom>
          <a:solidFill>
            <a:srgbClr val="205C9E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5093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Maintenance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5029200"/>
            <a:ext cx="2148840" cy="502920"/>
          </a:xfrm>
          <a:prstGeom prst="rect">
            <a:avLst/>
          </a:prstGeom>
          <a:solidFill>
            <a:srgbClr val="205C9E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5093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Actualiser stats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– Concepts POO mis en œuvre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454396" cy="1463040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64592" cy="14630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71600"/>
            <a:ext cx="5134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Héritage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55648"/>
            <a:ext cx="51343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Vehicule → VehiculeLeger / VehiculeLourd / VehiculeSpecial
Mission → MissionCourte / MissionLongue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11596" y="1280160"/>
            <a:ext cx="5454396" cy="1463040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11596" y="1280160"/>
            <a:ext cx="164592" cy="14630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7628" y="1371600"/>
            <a:ext cx="5134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Abstraction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7628" y="1755648"/>
            <a:ext cx="51343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Vehicule.getDescription() et Mission.getType() sont abstraites
→ chaque sous-classe DOIT les implémenter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454396" cy="1463040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164592" cy="14630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71800"/>
            <a:ext cx="5134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355848"/>
            <a:ext cx="51343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Assignable (assigner, desassigner, estDisponible)
Maintenable (planifierMaintenance, signalerIncident, necessiteMaintenance)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11596" y="2880360"/>
            <a:ext cx="5454396" cy="1463040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1596" y="2880360"/>
            <a:ext cx="164592" cy="14630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7628" y="2971800"/>
            <a:ext cx="5134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Polymorphisme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7628" y="3355848"/>
            <a:ext cx="51343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List&lt;Vehicule&gt; contient VehiculeLeger, VehiculeLourd, VehiculeSpecial
L'appel getDescription() est résolu à l'exécution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5454396" cy="1463040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480560"/>
            <a:ext cx="164592" cy="14630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72000"/>
            <a:ext cx="5134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Génériques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956048"/>
            <a:ext cx="51343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Registre&lt;T&gt; est une classe générique réutilisable
pour tout type d'objet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1596" y="4480560"/>
            <a:ext cx="5454396" cy="1463040"/>
          </a:xfrm>
          <a:prstGeom prst="rect">
            <a:avLst/>
          </a:prstGeom>
          <a:solidFill>
            <a:srgbClr val="D6E4F7"/>
          </a:solidFill>
          <a:ln w="12700">
            <a:solidFill>
              <a:srgbClr val="20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1596" y="4480560"/>
            <a:ext cx="164592" cy="14630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7628" y="4572000"/>
            <a:ext cx="5134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Exceptions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7628" y="4956048"/>
            <a:ext cx="51343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VehiculeIndisponibleException / ChauffeurIndisponibleException
→ gestion propre des erreurs métier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309360"/>
            <a:ext cx="11274552" cy="36576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Gestionnaire Métier Véhicule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377440"/>
            <a:ext cx="4873752" cy="54864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24912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2651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DC8ED"/>
                </a:solidFill>
              </a:rPr>
              <a:t>Application Java complète avec architecture MVC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163824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30906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DC8ED"/>
                </a:solidFill>
              </a:rPr>
              <a:t>6 concepts POO avancés appliqués (héritage, abstraction, interfaces…)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602736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5295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DC8ED"/>
                </a:solidFill>
              </a:rPr>
              <a:t>Persistance CSV + interface graphique Swing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041648"/>
            <a:ext cx="73152" cy="22860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9684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DC8ED"/>
                </a:solidFill>
              </a:rPr>
              <a:t>Code modulaire, extensible et robuste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</a:rPr>
              <a:t>Des questions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Gestionnaire Métier Véhicule  •  Licence Informatique  •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